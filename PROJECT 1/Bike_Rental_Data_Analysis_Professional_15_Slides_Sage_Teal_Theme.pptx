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300" b="1">
                <a:solidFill>
                  <a:srgbClr val="164E4B"/>
                </a:solidFill>
              </a:rPr>
              <a:t>Hourly rental profile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Rentals</c:v>
                </c:pt>
              </c:strCache>
            </c:strRef>
          </c:tx>
          <c:spPr>
            <a:solidFill>
              <a:srgbClr val="196964"/>
            </a:solidFill>
            <a:ln>
              <a:solidFill>
                <a:srgbClr val="196964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632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9696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C17-451B-8710-0A22F2EF80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IN" sz="1300" b="1">
                <a:solidFill>
                  <a:srgbClr val="164E4B"/>
                </a:solidFill>
              </a:rPr>
              <a:t>User type mix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96964"/>
            </a:solidFill>
            <a:ln>
              <a:solidFill>
                <a:srgbClr val="196964"/>
              </a:solidFill>
            </a:ln>
          </c:spPr>
          <c:cat>
            <c:strRef>
              <c:f>Sheet1!$A$2:$A$3</c:f>
              <c:strCache>
                <c:ptCount val="2"/>
                <c:pt idx="0">
                  <c:v>Casual</c:v>
                </c:pt>
                <c:pt idx="1">
                  <c:v>Registered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4921</c:v>
                </c:pt>
                <c:pt idx="1">
                  <c:v>53383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BE-42C6-9E8E-842DA28081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300" b="1">
                <a:solidFill>
                  <a:srgbClr val="164E4B"/>
                </a:solidFill>
              </a:rPr>
              <a:t>Rentals by hour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Rentals</c:v>
                </c:pt>
              </c:strCache>
            </c:strRef>
          </c:tx>
          <c:spPr>
            <a:solidFill>
              <a:srgbClr val="196964"/>
            </a:solidFill>
            <a:ln>
              <a:solidFill>
                <a:srgbClr val="196964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632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9696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B8F-46C2-97BE-8C95427746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300" b="1">
                <a:solidFill>
                  <a:srgbClr val="164E4B"/>
                </a:solidFill>
              </a:rPr>
              <a:t>Rentals by weekday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Rentals</c:v>
                </c:pt>
              </c:strCache>
            </c:strRef>
          </c:tx>
          <c:spPr>
            <a:solidFill>
              <a:srgbClr val="196964"/>
            </a:solidFill>
            <a:ln>
              <a:solidFill>
                <a:srgbClr val="196964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632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8121</c:v>
                </c:pt>
                <c:pt idx="1">
                  <c:v>8450</c:v>
                </c:pt>
                <c:pt idx="2">
                  <c:v>8383</c:v>
                </c:pt>
                <c:pt idx="3">
                  <c:v>8049</c:v>
                </c:pt>
                <c:pt idx="4">
                  <c:v>8458</c:v>
                </c:pt>
                <c:pt idx="5">
                  <c:v>9095</c:v>
                </c:pt>
                <c:pt idx="6">
                  <c:v>7748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9696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C36-49ED-959E-1B3485692E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300" b="1">
                <a:solidFill>
                  <a:srgbClr val="164E4B"/>
                </a:solidFill>
              </a:rPr>
              <a:t>Rentals by weather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Rentals</c:v>
                </c:pt>
              </c:strCache>
            </c:strRef>
          </c:tx>
          <c:spPr>
            <a:solidFill>
              <a:srgbClr val="196964"/>
            </a:solidFill>
            <a:ln>
              <a:solidFill>
                <a:srgbClr val="196964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632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Clear</c:v>
                </c:pt>
                <c:pt idx="1">
                  <c:v>Mist</c:v>
                </c:pt>
                <c:pt idx="2">
                  <c:v>Light rain</c:v>
                </c:pt>
                <c:pt idx="3">
                  <c:v>Heavy rain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37373</c:v>
                </c:pt>
                <c:pt idx="1">
                  <c:v>18106</c:v>
                </c:pt>
                <c:pt idx="2">
                  <c:v>2789</c:v>
                </c:pt>
                <c:pt idx="3">
                  <c:v>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9696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AEB-4161-B5BE-9B3EC3A328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IN" sz="1300" b="1">
                <a:solidFill>
                  <a:srgbClr val="164E4B"/>
                </a:solidFill>
              </a:rPr>
              <a:t>Share of rentals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Rentals</c:v>
                </c:pt>
              </c:strCache>
            </c:strRef>
          </c:tx>
          <c:spPr>
            <a:solidFill>
              <a:srgbClr val="196964"/>
            </a:solidFill>
            <a:ln>
              <a:solidFill>
                <a:srgbClr val="196964"/>
              </a:solidFill>
            </a:ln>
          </c:spPr>
          <c:cat>
            <c:strRef>
              <c:f>Sheet1!$A$2:$A$3</c:f>
              <c:strCache>
                <c:ptCount val="2"/>
                <c:pt idx="0">
                  <c:v>Casual</c:v>
                </c:pt>
                <c:pt idx="1">
                  <c:v>Registered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4921</c:v>
                </c:pt>
                <c:pt idx="1">
                  <c:v>53383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AF-4B89-B60D-08297CC98D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300" b="1">
                <a:solidFill>
                  <a:srgbClr val="164E4B"/>
                </a:solidFill>
              </a:rPr>
              <a:t>Histogram (illustrative bin counts)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196964"/>
            </a:solidFill>
            <a:ln>
              <a:solidFill>
                <a:srgbClr val="196964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632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0–500</c:v>
                </c:pt>
                <c:pt idx="1">
                  <c:v>501–1k</c:v>
                </c:pt>
                <c:pt idx="2">
                  <c:v>1k–1.5k</c:v>
                </c:pt>
                <c:pt idx="3">
                  <c:v>1.5k–2k</c:v>
                </c:pt>
                <c:pt idx="4">
                  <c:v>2k–2.5k</c:v>
                </c:pt>
                <c:pt idx="5">
                  <c:v>2.5k–3k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8</c:v>
                </c:pt>
                <c:pt idx="2">
                  <c:v>10</c:v>
                </c:pt>
                <c:pt idx="3">
                  <c:v>9</c:v>
                </c:pt>
                <c:pt idx="4">
                  <c:v>7</c:v>
                </c:pt>
                <c:pt idx="5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9696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8AF-4F9F-87FC-A5AB11BF66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300" b="1">
                <a:solidFill>
                  <a:srgbClr val="164E4B"/>
                </a:solidFill>
              </a:rPr>
              <a:t>Pareto cumulative line (concept)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%</c:v>
                </c:pt>
              </c:strCache>
            </c:strRef>
          </c:tx>
          <c:spPr>
            <a:ln>
              <a:solidFill>
                <a:srgbClr val="196964"/>
              </a:solidFill>
            </a:ln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632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</c:v>
                </c:pt>
                <c:pt idx="1">
                  <c:v>20</c:v>
                </c:pt>
                <c:pt idx="2">
                  <c:v>28</c:v>
                </c:pt>
                <c:pt idx="3">
                  <c:v>35</c:v>
                </c:pt>
                <c:pt idx="4">
                  <c:v>42</c:v>
                </c:pt>
                <c:pt idx="5">
                  <c:v>49</c:v>
                </c:pt>
                <c:pt idx="6">
                  <c:v>56</c:v>
                </c:pt>
                <c:pt idx="7">
                  <c:v>63</c:v>
                </c:pt>
                <c:pt idx="8">
                  <c:v>70</c:v>
                </c:pt>
                <c:pt idx="9">
                  <c:v>78</c:v>
                </c:pt>
                <c:pt idx="10">
                  <c:v>88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B7-4FE7-85A9-488648FFB4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300" b="1">
                <a:solidFill>
                  <a:srgbClr val="164E4B"/>
                </a:solidFill>
              </a:rPr>
              <a:t>Forecast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</c:v>
                </c:pt>
              </c:strCache>
            </c:strRef>
          </c:tx>
          <c:spPr>
            <a:ln>
              <a:solidFill>
                <a:srgbClr val="196964"/>
              </a:solidFill>
            </a:ln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632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15 Feb</c:v>
                </c:pt>
                <c:pt idx="1">
                  <c:v>16 Feb</c:v>
                </c:pt>
                <c:pt idx="2">
                  <c:v>17 Feb</c:v>
                </c:pt>
                <c:pt idx="3">
                  <c:v>18 Feb</c:v>
                </c:pt>
                <c:pt idx="4">
                  <c:v>19 Feb</c:v>
                </c:pt>
                <c:pt idx="5">
                  <c:v>20 Feb</c:v>
                </c:pt>
                <c:pt idx="6">
                  <c:v>21 Feb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1387</c:v>
                </c:pt>
                <c:pt idx="1">
                  <c:v>1393</c:v>
                </c:pt>
                <c:pt idx="2">
                  <c:v>1398</c:v>
                </c:pt>
                <c:pt idx="3">
                  <c:v>1404</c:v>
                </c:pt>
                <c:pt idx="4">
                  <c:v>1409</c:v>
                </c:pt>
                <c:pt idx="5">
                  <c:v>1414</c:v>
                </c:pt>
                <c:pt idx="6">
                  <c:v>1419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78-4D6F-91DF-AA82D361F9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138160" y="502920"/>
            <a:ext cx="3429000" cy="5715000"/>
          </a:xfrm>
          <a:prstGeom prst="roundRect">
            <a:avLst>
              <a:gd name="adj" fmla="val 12000"/>
            </a:avLst>
          </a:prstGeom>
          <a:solidFill>
            <a:srgbClr val="164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32520" y="4160520"/>
            <a:ext cx="329184" cy="914400"/>
          </a:xfrm>
          <a:prstGeom prst="roundRect">
            <a:avLst>
              <a:gd name="adj" fmla="val 12000"/>
            </a:avLst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99448" y="3474720"/>
            <a:ext cx="329184" cy="1600200"/>
          </a:xfrm>
          <a:prstGeom prst="roundRect">
            <a:avLst>
              <a:gd name="adj" fmla="val 12000"/>
            </a:avLst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66376" y="2743200"/>
            <a:ext cx="329184" cy="2331720"/>
          </a:xfrm>
          <a:prstGeom prst="roundRect">
            <a:avLst>
              <a:gd name="adj" fmla="val 12000"/>
            </a:avLst>
          </a:prstGeom>
          <a:solidFill>
            <a:srgbClr val="E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33304" y="3840479"/>
            <a:ext cx="329184" cy="1234440"/>
          </a:xfrm>
          <a:prstGeom prst="roundRect">
            <a:avLst>
              <a:gd name="adj" fmla="val 12000"/>
            </a:avLst>
          </a:prstGeom>
          <a:solidFill>
            <a:srgbClr val="DE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960120"/>
            <a:ext cx="6858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713232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BIKE RENTAL</a:t>
            </a:r>
          </a:p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401568"/>
            <a:ext cx="65836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DCE8F4"/>
                </a:solidFill>
                <a:latin typeface="Aptos"/>
              </a:rPr>
              <a:t>Automated Reporting • Forecasting • Business Insights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4389120"/>
            <a:ext cx="1097280" cy="54864"/>
          </a:xfrm>
          <a:prstGeom prst="rect">
            <a:avLst/>
          </a:prstGeom>
          <a:solidFill>
            <a:srgbClr val="E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4709160"/>
            <a:ext cx="6217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961888"/>
            <a:ext cx="6675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DEECE3"/>
                </a:solidFill>
                <a:latin typeface="Aptos"/>
              </a:rPr>
              <a:t>Submitted by: Shafiqa Afreen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6263640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1488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325880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72768"/>
            <a:ext cx="18196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TOTAL RENTALS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01952"/>
            <a:ext cx="18196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58,304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31720"/>
            <a:ext cx="1819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Dataset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417320"/>
            <a:ext cx="21488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26080" y="1417320"/>
            <a:ext cx="82296" cy="1325880"/>
          </a:xfrm>
          <a:prstGeom prst="rect">
            <a:avLst/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27248" y="1572768"/>
            <a:ext cx="18196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PEAK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1901952"/>
            <a:ext cx="18196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5:00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331720"/>
            <a:ext cx="1819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Highest hourly demand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417320"/>
            <a:ext cx="21488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12080" y="1417320"/>
            <a:ext cx="82296" cy="1325880"/>
          </a:xfrm>
          <a:prstGeom prst="rect">
            <a:avLst/>
          </a:prstGeom>
          <a:solidFill>
            <a:srgbClr val="E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13248" y="1572768"/>
            <a:ext cx="18196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TOP WEATHER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1901952"/>
            <a:ext cx="18196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Clear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2331720"/>
            <a:ext cx="1819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37,373 rentals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417320"/>
            <a:ext cx="21488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79" y="1417320"/>
            <a:ext cx="82296" cy="132588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99248" y="1572768"/>
            <a:ext cx="18196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ANOMALY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1901952"/>
            <a:ext cx="18196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2331720"/>
            <a:ext cx="1819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Z-score method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1417320"/>
            <a:ext cx="17830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84080" y="1417320"/>
            <a:ext cx="82296" cy="1325880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85248" y="1572768"/>
            <a:ext cx="1453895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FORECAST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1901952"/>
            <a:ext cx="145389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~1,400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2331720"/>
            <a:ext cx="1453895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Rentals/day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4612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64E4B"/>
                </a:solidFill>
                <a:latin typeface="Aptos"/>
              </a:rPr>
              <a:t>The project turns rental records into an interactive dashboard and repeatable reporting workflow.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886200"/>
            <a:ext cx="10332720" cy="182880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Explore demand by hour, weekday, weather, and user type.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Use statistical measures to identify relationships and unusual days.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Apply Excel formulas, PivotTables, charts, and VBA to streamline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Objectives &amp; Business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Project framing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640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81912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4E4B"/>
                </a:solidFill>
                <a:latin typeface="Aptos"/>
              </a:rPr>
              <a:t>Understand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11680"/>
            <a:ext cx="38862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238"/>
                </a:solidFill>
                <a:latin typeface="Aptos"/>
              </a:rPr>
              <a:t>When are rentals highest, and how does demand vary across weekdays?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581912"/>
            <a:ext cx="640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581912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4E4B"/>
                </a:solidFill>
                <a:latin typeface="Aptos"/>
              </a:rPr>
              <a:t>Explore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11680"/>
            <a:ext cx="38862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238"/>
                </a:solidFill>
                <a:latin typeface="Aptos"/>
              </a:rPr>
              <a:t>How do weather and temperature relate to rental volume?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640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30752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4E4B"/>
                </a:solidFill>
                <a:latin typeface="Aptos"/>
              </a:rPr>
              <a:t>Identify variation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160520"/>
            <a:ext cx="38862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238"/>
                </a:solidFill>
                <a:latin typeface="Aptos"/>
              </a:rPr>
              <a:t>How spread out are daily rentals, and which days appear unusual?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6616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730752"/>
            <a:ext cx="640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730752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4E4B"/>
                </a:solidFill>
                <a:latin typeface="Aptos"/>
              </a:rPr>
              <a:t>Automate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160520"/>
            <a:ext cx="38862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238"/>
                </a:solidFill>
                <a:latin typeface="Aptos"/>
              </a:rPr>
              <a:t>How can refresh, analysis, and management summaries be made repeatable?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Dataset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Data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0292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4E4B"/>
                </a:solidFill>
                <a:latin typeface="Aptos"/>
              </a:rPr>
              <a:t>Core fields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4343400" cy="310896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Date and time: dteday, hr, weekday, month, year</a:t>
            </a:r>
          </a:p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Conditions: season, holiday, weather situation</a:t>
            </a:r>
          </a:p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Environment: temperature, apparent temperature, humidity, windspeed</a:t>
            </a:r>
          </a:p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Outcomes: casual, registered, total count (cnt)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4E4B"/>
                </a:solidFill>
                <a:latin typeface="Aptos"/>
              </a:rPr>
              <a:t>Preparation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4572000" cy="329184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Inspect fields and remove blank or duplicate imported records.</a:t>
            </a:r>
          </a:p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Build PivotTables for hour, weekday, and weather summaries.</a:t>
            </a:r>
          </a:p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Create helper ranges for charts, cumulative percentages, and daily analysis.</a:t>
            </a:r>
          </a:p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Keep chart inputs separate from original PivotTables where practical.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Interactive 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Dashboard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1078992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600200"/>
            <a:ext cx="82296" cy="1051560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1755648"/>
            <a:ext cx="200253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TOTAL RENTALS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084832"/>
            <a:ext cx="200253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58,304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6002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600200"/>
            <a:ext cx="82296" cy="1051560"/>
          </a:xfrm>
          <a:prstGeom prst="rect">
            <a:avLst/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21608" y="1755648"/>
            <a:ext cx="200253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PEAK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084832"/>
            <a:ext cx="200253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5:00 PM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002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1600200"/>
            <a:ext cx="82296" cy="1051560"/>
          </a:xfrm>
          <a:prstGeom prst="rect">
            <a:avLst/>
          </a:prstGeom>
          <a:solidFill>
            <a:srgbClr val="E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1755648"/>
            <a:ext cx="200253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TOP WEATHER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084832"/>
            <a:ext cx="200253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CLEAR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16002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32520" y="1600200"/>
            <a:ext cx="82296" cy="105156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33688" y="1755648"/>
            <a:ext cx="200253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ANOMALIES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2084832"/>
            <a:ext cx="200253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2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914400" y="2971800"/>
          <a:ext cx="55778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812280" y="2971800"/>
          <a:ext cx="39319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14400" y="594360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4716E"/>
                </a:solidFill>
                <a:latin typeface="Aptos"/>
              </a:rPr>
              <a:t>Dashboard controls: weather situation • month • weekday • season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Demand Patterns: Hour &amp; Weekday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Exploratory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06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371600"/>
          <a:ext cx="6400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0" y="1371600"/>
          <a:ext cx="4114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0644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4E4B"/>
                </a:solidFill>
                <a:latin typeface="Aptos"/>
              </a:rPr>
              <a:t>Insight: demand peaks around 5 PM; weekday totals are relatively close, with the strongest total on weekday code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Weather Mix &amp; Treemap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Category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07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46304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03720" y="1691640"/>
            <a:ext cx="4206240" cy="2331720"/>
          </a:xfrm>
          <a:prstGeom prst="roundRect">
            <a:avLst>
              <a:gd name="adj" fmla="val 12000"/>
            </a:avLst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040" y="2240280"/>
            <a:ext cx="3657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CLEAR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37,373 rentals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160520"/>
            <a:ext cx="2423160" cy="1005840"/>
          </a:xfrm>
          <a:prstGeom prst="roundRect">
            <a:avLst>
              <a:gd name="adj" fmla="val 12000"/>
            </a:avLst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14032" y="4370832"/>
            <a:ext cx="2011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MIST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18,106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41605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E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28048" y="4224528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>
                <a:solidFill>
                  <a:srgbClr val="164E4B"/>
                </a:solidFill>
                <a:latin typeface="Aptos"/>
              </a:rPr>
              <a:t>LIGHT RAIN 2,789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5440680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Heavy rain: 36 rentals (small share)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424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Weather categories are highly imbalanced; the smallest Treemap rectangle may not fit its label.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User Mix: Casual vs Registered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Customer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08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417320"/>
          <a:ext cx="5029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09360" y="1645920"/>
            <a:ext cx="21488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82296" cy="1371600"/>
          </a:xfrm>
          <a:prstGeom prst="rect">
            <a:avLst/>
          </a:prstGeom>
          <a:solidFill>
            <a:srgbClr val="E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801368"/>
            <a:ext cx="18196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CASUAL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130552"/>
            <a:ext cx="18196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4,921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06039"/>
            <a:ext cx="1819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~8.4% of rentals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645920"/>
            <a:ext cx="21488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32520" y="1645920"/>
            <a:ext cx="82296" cy="1371600"/>
          </a:xfrm>
          <a:prstGeom prst="rect">
            <a:avLst/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3688" y="1801368"/>
            <a:ext cx="18196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REGISTERED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130552"/>
            <a:ext cx="18196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53,383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2606039"/>
            <a:ext cx="1819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~91.6% of rentals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657600"/>
            <a:ext cx="457200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4E4B"/>
                </a:solidFill>
                <a:latin typeface="Aptos"/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069080"/>
            <a:ext cx="45720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238"/>
                </a:solidFill>
                <a:latin typeface="Aptos"/>
              </a:rPr>
              <a:t>Registered users account for most recorded rentals. Consider retention and loyalty actions alongside campaigns aimed at occasional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Environmental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Correlation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32918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82296" cy="1280160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572768"/>
            <a:ext cx="29626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TEMPERATURE ↔ RENTALS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901952"/>
            <a:ext cx="29626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r = 0.193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286000"/>
            <a:ext cx="2962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Weak positive relationship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2918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82296" cy="1280160"/>
          </a:xfrm>
          <a:prstGeom prst="rect">
            <a:avLst/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1572768"/>
            <a:ext cx="29626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HUMIDITY ↔ CASUAL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1901952"/>
            <a:ext cx="29626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r = −0.259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286000"/>
            <a:ext cx="2962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Weak negative relationship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2918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417320"/>
            <a:ext cx="82296" cy="1280160"/>
          </a:xfrm>
          <a:prstGeom prst="rect">
            <a:avLst/>
          </a:prstGeom>
          <a:solidFill>
            <a:srgbClr val="E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3608" y="1572768"/>
            <a:ext cx="29626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WIND SPEED ↔ REGISTERED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1901952"/>
            <a:ext cx="29626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r = 0.090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286000"/>
            <a:ext cx="2962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Very weak relationship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154680"/>
            <a:ext cx="1046988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429000"/>
            <a:ext cx="9784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4E4B"/>
                </a:solidFill>
                <a:latin typeface="Aptos"/>
              </a:rPr>
              <a:t>How to interpret these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931920"/>
            <a:ext cx="9784080" cy="128016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The observed correlations are weak; they do not establish causation.</a:t>
            </a:r>
          </a:p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Other factors—time, season, working patterns, and weather combinations—may also influence demand.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Daily Rental Distribution &amp; Variability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Distribution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417320"/>
          <a:ext cx="534924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1417320"/>
            <a:ext cx="466344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691640"/>
            <a:ext cx="4023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4E4B"/>
                </a:solidFill>
                <a:latin typeface="Aptos"/>
              </a:rPr>
              <a:t>Box-and-Whisker: what it reveals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3383280"/>
            <a:ext cx="3611880" cy="22860"/>
          </a:xfrm>
          <a:prstGeom prst="rect">
            <a:avLst/>
          </a:prstGeom>
          <a:solidFill>
            <a:srgbClr val="5B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89520" y="2880360"/>
            <a:ext cx="2331720" cy="960120"/>
          </a:xfrm>
          <a:prstGeom prst="rect">
            <a:avLst/>
          </a:prstGeom>
          <a:solidFill>
            <a:srgbClr val="DEECE3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41080" y="2852928"/>
            <a:ext cx="36576" cy="1024128"/>
          </a:xfrm>
          <a:prstGeom prst="rect">
            <a:avLst/>
          </a:prstGeom>
          <a:solidFill>
            <a:srgbClr val="164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69480" y="3264408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921240" y="3264408"/>
            <a:ext cx="320040" cy="256032"/>
          </a:xfrm>
          <a:prstGeom prst="roundRect">
            <a:avLst>
              <a:gd name="adj" fmla="val 12000"/>
            </a:avLst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4251960"/>
            <a:ext cx="3886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Shows the median, middle 50% of values, whiskers, and potential outliers. Read exact positions from Excel's chart.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70448"/>
            <a:ext cx="10424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Use the Excel chart for exact bins and quartiles; this slide summarizes the purpose of the visual.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Heat Map &amp; Pareto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Pattern prioritization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6636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526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4E4B"/>
                </a:solidFill>
                <a:latin typeface="Aptos"/>
              </a:rPr>
              <a:t>Hourly rentals by weekday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24028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627631" y="224028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57984" y="224028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88335" y="224028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18687" y="224028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49039" y="224028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79392" y="224028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809744" y="224028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97280" y="263347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627631" y="263347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157984" y="263347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688335" y="263347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18687" y="263347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749039" y="263347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79392" y="263347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809744" y="263347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97280" y="3026664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627631" y="3026664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157984" y="3026664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688335" y="3026664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18687" y="3026664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749039" y="3026664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279392" y="3026664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09744" y="3026664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97280" y="3419856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627631" y="3419856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157984" y="3419856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688335" y="3419856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218687" y="3419856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749039" y="3419856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279392" y="3419856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809744" y="3419856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97280" y="3813048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627631" y="3813048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157984" y="3813048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688335" y="3813048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218687" y="3813048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3749039" y="3813048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279392" y="3813048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809744" y="3813048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97280" y="420624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627631" y="420624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157984" y="420624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2688335" y="420624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218687" y="420624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749039" y="420624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4279392" y="420624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809744" y="4206240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097280" y="459943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627631" y="459943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2157984" y="459943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2688335" y="459943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3218687" y="459943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749039" y="459943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78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4279392" y="459943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809744" y="4599432"/>
            <a:ext cx="466344" cy="329184"/>
          </a:xfrm>
          <a:prstGeom prst="roundRect">
            <a:avLst>
              <a:gd name="adj" fmla="val 12000"/>
            </a:avLst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05840" y="5166360"/>
            <a:ext cx="4526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Heat Map highlights relative concentration.</a:t>
            </a:r>
          </a:p>
        </p:txBody>
      </p:sp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6309360" y="1417320"/>
          <a:ext cx="50292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6355080" y="5760720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Excel Pareto uses sorted hourly counts and cumulative percentage.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Quality and exceptions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5603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82296" cy="141732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1572768"/>
            <a:ext cx="223113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ANOMALY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901952"/>
            <a:ext cx="223113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23160"/>
            <a:ext cx="223113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Daily z-score threshold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417320"/>
            <a:ext cx="25603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0" y="1417320"/>
            <a:ext cx="82296" cy="1417320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58768" y="1572768"/>
            <a:ext cx="223113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NORMAL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1901952"/>
            <a:ext cx="223113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423160"/>
            <a:ext cx="223113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44 daily observations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417320"/>
            <a:ext cx="42519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164592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4716E"/>
                </a:solidFill>
                <a:latin typeface="Aptos"/>
              </a:rPr>
              <a:t>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011680"/>
            <a:ext cx="3657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4E4B"/>
                </a:solidFill>
                <a:latin typeface="Aptos"/>
              </a:rPr>
              <a:t>Flag days where |z-score| &gt;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246120"/>
            <a:ext cx="100584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352044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4E4B"/>
                </a:solidFill>
                <a:latin typeface="Aptos"/>
              </a:rPr>
              <a:t>How to use this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023360"/>
            <a:ext cx="9144000" cy="109728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Investigate flagged dates against weather, calendar, or data-quality changes.</a:t>
            </a:r>
          </a:p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The anomaly rule is a screening aid—not proof that a day is erroneous.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06440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The doughnut chart communicates 2 anomaly days versus 42 normal days.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Forecasting: Next 7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Time-series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82296" cy="1371600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1527048"/>
            <a:ext cx="21396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DAILY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856232"/>
            <a:ext cx="213969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~1,400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31720"/>
            <a:ext cx="2139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Rentals/day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37160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371600"/>
            <a:ext cx="82296" cy="1371600"/>
          </a:xfrm>
          <a:prstGeom prst="rect">
            <a:avLst/>
          </a:prstGeom>
          <a:solidFill>
            <a:srgbClr val="19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21608" y="1527048"/>
            <a:ext cx="21396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FORECAST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1856232"/>
            <a:ext cx="213969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7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331720"/>
            <a:ext cx="2139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Through 21 Feb 2011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82296" cy="1371600"/>
          </a:xfrm>
          <a:prstGeom prst="rect">
            <a:avLst/>
          </a:prstGeom>
          <a:solidFill>
            <a:srgbClr val="E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1527048"/>
            <a:ext cx="21396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856232"/>
            <a:ext cx="213969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314.77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331720"/>
            <a:ext cx="2139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Historical error metric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37160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15400" y="1371600"/>
            <a:ext cx="82296" cy="13716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16568" y="1527048"/>
            <a:ext cx="21396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4716E"/>
                </a:solidFill>
                <a:latin typeface="Aptos"/>
              </a:rPr>
              <a:t>RMSE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1856232"/>
            <a:ext cx="213969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64E4B"/>
                </a:solidFill>
                <a:latin typeface="Aptos"/>
              </a:rPr>
              <a:t>484.23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2331720"/>
            <a:ext cx="2139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16E"/>
                </a:solidFill>
                <a:latin typeface="Aptos"/>
              </a:rPr>
              <a:t>Penalizes larger errors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1005840" y="3154680"/>
          <a:ext cx="65836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8001000" y="3246120"/>
            <a:ext cx="315468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3520440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4E4B"/>
                </a:solidFill>
                <a:latin typeface="Aptos"/>
              </a:rPr>
              <a:t>Interpretation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977639"/>
            <a:ext cx="26060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3238"/>
                </a:solidFill>
                <a:latin typeface="Aptos"/>
              </a:rPr>
              <a:t>A gently rising estimate around 1,400/day. Wide confidence bounds and short history mean uncertainty is substantial.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VBA Automation &amp; Reporting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Repeatable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" y="2084831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148840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97480"/>
            <a:ext cx="1783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4E4B"/>
                </a:solidFill>
                <a:latin typeface="Aptos"/>
              </a:rP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108960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263238"/>
                </a:solidFill>
                <a:latin typeface="Aptos"/>
              </a:rPr>
              <a:t>Remove blank rows and duplicates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1" y="2606040"/>
            <a:ext cx="201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1874519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63240" y="2084831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2148840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697480"/>
            <a:ext cx="1783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4E4B"/>
                </a:solidFill>
                <a:latin typeface="Aptos"/>
              </a:rPr>
              <a:t>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108960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263238"/>
                </a:solidFill>
                <a:latin typeface="Aptos"/>
              </a:rPr>
              <a:t>Update queries and PivotTables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79" y="2606040"/>
            <a:ext cx="201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02936" y="1874519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67528" y="2084831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67528" y="2148840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2697480"/>
            <a:ext cx="1783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4E4B"/>
                </a:solidFill>
                <a:latin typeface="Aptos"/>
              </a:rPr>
              <a:t>Recalculate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3108960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263238"/>
                </a:solidFill>
                <a:latin typeface="Aptos"/>
              </a:rPr>
              <a:t>Refresh formula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2606040"/>
            <a:ext cx="201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224" y="1874519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71816" y="2084831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71816" y="2148840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6" y="2697480"/>
            <a:ext cx="1783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4E4B"/>
                </a:solidFill>
                <a:latin typeface="Aptos"/>
              </a:rPr>
              <a:t>Detect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1816" y="3108960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263238"/>
                </a:solidFill>
                <a:latin typeface="Aptos"/>
              </a:rPr>
              <a:t>Flag unusual daily counts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2056" y="2606040"/>
            <a:ext cx="201168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11512" y="1874519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976104" y="2084831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76104" y="2148840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2697480"/>
            <a:ext cx="1783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4E4B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6104" y="3108960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263238"/>
                </a:solidFill>
                <a:latin typeface="Aptos"/>
              </a:rPr>
              <a:t>Update management summary and insights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343400"/>
            <a:ext cx="10424160" cy="1005840"/>
          </a:xfrm>
          <a:prstGeom prst="roundRect">
            <a:avLst>
              <a:gd name="adj" fmla="val 12000"/>
            </a:avLst>
          </a:prstGeom>
          <a:solidFill>
            <a:srgbClr val="D3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" y="4590288"/>
            <a:ext cx="9875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64E4B"/>
                </a:solidFill>
                <a:latin typeface="Aptos"/>
              </a:rPr>
              <a:t>One-click macro: UpdateBikeRentalDashboard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Always verify refreshed outputs and save a backup before running automation on new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8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64E4B"/>
                </a:solidFill>
                <a:latin typeface="Aptos"/>
              </a:rPr>
              <a:t>Recommendations, Limitations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16E"/>
                </a:solidFill>
                <a:latin typeface="Aptos"/>
              </a:rPr>
              <a:t>Project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E8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800">
                <a:solidFill>
                  <a:srgbClr val="64716E"/>
                </a:solidFill>
                <a:latin typeface="Aptos"/>
              </a:rPr>
              <a:t>BIKE RENTAL DATA ANALYSIS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4716E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578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4E4B"/>
                </a:solidFill>
                <a:latin typeface="Aptos"/>
              </a:rPr>
              <a:t>Business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4572000" cy="320040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Plan bike availability and staffing around the late-afternoon peak.</a:t>
            </a:r>
          </a:p>
          <a:p>
            <a:pPr>
              <a:spcAft>
                <a:spcPts val="11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Monitor weather-related changes without assuming weather alone causes demand.</a:t>
            </a:r>
          </a:p>
          <a:p>
            <a:pPr>
              <a:spcAft>
                <a:spcPts val="11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Review unusual dates and use the dashboard filters for focused analysis.</a:t>
            </a:r>
          </a:p>
          <a:p>
            <a:pPr>
              <a:spcAft>
                <a:spcPts val="11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Refresh the report regularly and compare forecasts with actual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578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4E4B"/>
                </a:solidFill>
                <a:latin typeface="Aptos"/>
              </a:rPr>
              <a:t>Limitations &amp; AI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572000" cy="320040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The dataset covers a limited time span; forecasts should be treated cautiously.</a:t>
            </a:r>
          </a:p>
          <a:p>
            <a:pPr>
              <a:spcAft>
                <a:spcPts val="1100"/>
              </a:spcAft>
              <a:defRPr sz="12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Correlation indicates association, not causation.</a:t>
            </a:r>
          </a:p>
          <a:p>
            <a:pPr>
              <a:spcAft>
                <a:spcPts val="1100"/>
              </a:spcAft>
              <a:defRPr sz="12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VBA-based insights and statistical rules are implemented.</a:t>
            </a:r>
          </a:p>
          <a:p>
            <a:pPr>
              <a:spcAft>
                <a:spcPts val="1100"/>
              </a:spcAft>
              <a:defRPr sz="1200">
                <a:solidFill>
                  <a:srgbClr val="263238"/>
                </a:solidFill>
                <a:latin typeface="Aptos"/>
              </a:defRPr>
            </a:pPr>
            <a:r>
              <a:rPr>
                <a:solidFill/>
              </a:rPr>
              <a:t>•  The OpenAI API connection was tested, but AI-generated output was not activated because the account had no API credit balance.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424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0A6A6"/>
                </a:solidFill>
                <a:latin typeface="Aptos"/>
              </a:rP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1024</Words>
  <Application>Microsoft Office PowerPoint</Application>
  <PresentationFormat>Widescreen</PresentationFormat>
  <Paragraphs>213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SHAFIQA AFREEN</cp:lastModifiedBy>
  <cp:revision>1</cp:revision>
  <dcterms:created xsi:type="dcterms:W3CDTF">2013-01-27T09:14:16Z</dcterms:created>
  <dcterms:modified xsi:type="dcterms:W3CDTF">2026-10-09T10:18:49Z</dcterms:modified>
  <cp:category/>
</cp:coreProperties>
</file>